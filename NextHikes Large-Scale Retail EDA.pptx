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embeddedFontLst>
    <p:embeddedFont>
      <p:font typeface="Plus Jakarta Sans"/>
      <p:bold r:id="rId17"/>
    </p:embeddedFont>
    <p:embeddedFont>
      <p:font typeface="Space Grotesk"/>
      <p:bold r:id="rId1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300" y="-2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5495925"/>
            <a:ext cx="10668000" cy="7524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62000" y="5495925"/>
            <a:ext cx="106680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609600"/>
            <a:ext cx="342900" cy="3429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725" y="695325"/>
            <a:ext cx="171450" cy="1714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72575" y="690562"/>
            <a:ext cx="2821781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Plus Jakarta Sans"/>
              </a:rPr>
              <a:t>Project 3 • Final EDA Submission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2221259"/>
            <a:ext cx="114300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8BDF8"/>
                </a:solidFill>
                <a:latin typeface="Plus Jakarta Sans"/>
              </a:rPr>
              <a:t>EXPLORATORY DATA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2573684"/>
            <a:ext cx="9701212" cy="11391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484"/>
              </a:lnSpc>
            </a:pPr>
            <a:r>
              <a:rPr sz="3900" b="1" i="0" u="none">
                <a:solidFill>
                  <a:srgbClr val="F8FAFC"/>
                </a:solidFill>
                <a:latin typeface="Space Grotesk"/>
              </a:rPr>
              <a:t>Large-Scale Retail Transaction Statistical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3941415"/>
            <a:ext cx="11430000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94A3B8"/>
                </a:solidFill>
                <a:latin typeface="Plus Jakarta Sans"/>
              </a:rPr>
              <a:t>Univariate, Bivariate &amp; Multivariate Behavioral Profiling across 100,000 Commercial Records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19200" y="681037"/>
            <a:ext cx="252412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94A3B8"/>
                </a:solidFill>
                <a:latin typeface="Space Grotesk"/>
              </a:rPr>
              <a:t>NEXTHIKES IT SOLUTIONS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5772150"/>
            <a:ext cx="2224236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PROJECT LEAD &amp; AUTHOR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5981700"/>
            <a:ext cx="2224236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FFFFFF"/>
                </a:solidFill>
                <a:latin typeface="Plus Jakarta Sans"/>
              </a:rPr>
              <a:t>Azeem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10400" y="5838825"/>
            <a:ext cx="290512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Plus Jakarta Sans"/>
              </a:rPr>
              <a:t>Dataset Scope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10400" y="6029325"/>
            <a:ext cx="290512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CBD5E1"/>
                </a:solidFill>
                <a:latin typeface="Plus Jakarta Sans"/>
              </a:rPr>
              <a:t>100,000 Rows × 18 Features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15500" y="5838825"/>
            <a:ext cx="214312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Plus Jakarta Sans"/>
              </a:rPr>
              <a:t>Submission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15500" y="6029325"/>
            <a:ext cx="214312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CBD5E1"/>
                </a:solidFill>
                <a:latin typeface="Plus Jakarta Sans"/>
              </a:rPr>
              <a:t>September 25,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600" y="2100262"/>
            <a:ext cx="5181600" cy="36195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600" y="2100262"/>
            <a:ext cx="5181600" cy="3619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533400"/>
            <a:ext cx="115062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SITUATION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81050"/>
            <a:ext cx="11506200" cy="4095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Space Grotesk"/>
              </a:rPr>
              <a:t>Analytical Objectives &amp; Commercial Scope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256532"/>
            <a:ext cx="5276850" cy="8684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425" b="0" i="0" u="none">
                <a:solidFill>
                  <a:srgbClr val="334155"/>
                </a:solidFill>
                <a:latin typeface="Plus Jakarta Sans"/>
              </a:rPr>
              <a:t>Modern omni-channel retail generates high-velocity transactional logs requiring statistical validation prior to predictive machine learning.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353544"/>
            <a:ext cx="527685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E293B"/>
                </a:solidFill>
                <a:latin typeface="Plus Jakarta Sans"/>
              </a:rPr>
              <a:t>Distribution Profiling:</a:t>
            </a:r>
            <a:r>
              <a:rPr sz="1350" b="0" i="0" u="none">
                <a:solidFill>
                  <a:srgbClr val="1E293B"/>
                </a:solidFill>
                <a:latin typeface="Plus Jakarta Sans"/>
              </a:rPr>
              <a:t> Measure skewness, kurtosis, and dispersion moments.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944094"/>
            <a:ext cx="527685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E293B"/>
                </a:solidFill>
                <a:latin typeface="Plus Jakarta Sans"/>
              </a:rPr>
              <a:t>Outlier Diagnostic:</a:t>
            </a:r>
            <a:r>
              <a:rPr sz="1350" b="0" i="0" u="none">
                <a:solidFill>
                  <a:srgbClr val="1E293B"/>
                </a:solidFill>
                <a:latin typeface="Plus Jakarta Sans"/>
              </a:rPr>
              <a:t> Isolate bulk institutional buyers from data entry corruptions.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534644"/>
            <a:ext cx="527685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E293B"/>
                </a:solidFill>
                <a:latin typeface="Plus Jakarta Sans"/>
              </a:rPr>
              <a:t>Pricing Dynamics:</a:t>
            </a:r>
            <a:r>
              <a:rPr sz="1350" b="0" i="0" u="none">
                <a:solidFill>
                  <a:srgbClr val="1E293B"/>
                </a:solidFill>
                <a:latin typeface="Plus Jakarta Sans"/>
              </a:rPr>
              <a:t> Evaluate discount elasticity across merchandise hierarchies.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5125194"/>
            <a:ext cx="527685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E293B"/>
                </a:solidFill>
                <a:latin typeface="Plus Jakarta Sans"/>
              </a:rPr>
              <a:t>Fulfillment Stability:</a:t>
            </a:r>
            <a:r>
              <a:rPr sz="1350" b="0" i="0" u="none">
                <a:solidFill>
                  <a:srgbClr val="1E293B"/>
                </a:solidFill>
                <a:latin typeface="Plus Jakarta Sans"/>
              </a:rPr>
              <a:t> Audit logistics transit latency vs customer return rates.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2628900"/>
            <a:ext cx="3454449" cy="2524125"/>
          </a:xfrm>
          <a:prstGeom prst="roundRect">
            <a:avLst>
              <a:gd name="adj" fmla="val 528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68849" y="2847975"/>
            <a:ext cx="3454449" cy="2085975"/>
          </a:xfrm>
          <a:prstGeom prst="roundRect">
            <a:avLst>
              <a:gd name="adj" fmla="val 639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51899" y="2628900"/>
            <a:ext cx="3454449" cy="2524125"/>
          </a:xfrm>
          <a:prstGeom prst="roundRect">
            <a:avLst>
              <a:gd name="adj" fmla="val 528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025" y="2943225"/>
            <a:ext cx="419100" cy="4191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5074" y="3162300"/>
            <a:ext cx="419100" cy="4191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8124" y="2943225"/>
            <a:ext cx="419100" cy="4191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5850" y="3057525"/>
            <a:ext cx="171450" cy="190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9374" y="3276600"/>
            <a:ext cx="190500" cy="1905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42424" y="3057525"/>
            <a:ext cx="190500" cy="1905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85800" y="533400"/>
            <a:ext cx="115062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DATA ARCHITECTURE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781050"/>
            <a:ext cx="11506200" cy="4095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Space Grotesk"/>
              </a:rPr>
              <a:t>Dataset Architecture &amp; Quality Baseline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2025" y="3552825"/>
            <a:ext cx="3808874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Scale &amp; Dimensions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2025" y="3886200"/>
            <a:ext cx="2997249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100,000 completed transaction rows.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2025" y="4400550"/>
            <a:ext cx="2997249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18 multi-dimensional feature columns.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45074" y="3771900"/>
            <a:ext cx="3808874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Variable Taxonomy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45074" y="4105275"/>
            <a:ext cx="3627499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6 continuous numerical metrics.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45074" y="4400550"/>
            <a:ext cx="3627499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6 operational categorical fields.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8124" y="3552825"/>
            <a:ext cx="3808874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Cleanliness Audit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8124" y="3886200"/>
            <a:ext cx="2997249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Zero null or missing values detected.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8124" y="4400550"/>
            <a:ext cx="2997249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Verified type parity across all attributes.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3071812"/>
            <a:ext cx="2562225" cy="1676400"/>
          </a:xfrm>
          <a:prstGeom prst="roundRect">
            <a:avLst>
              <a:gd name="adj" fmla="val 681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438525" y="3071812"/>
            <a:ext cx="2562225" cy="1676400"/>
          </a:xfrm>
          <a:prstGeom prst="roundRect">
            <a:avLst>
              <a:gd name="adj" fmla="val 681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191250" y="2962275"/>
            <a:ext cx="2562225" cy="1895475"/>
          </a:xfrm>
          <a:prstGeom prst="roundRect">
            <a:avLst>
              <a:gd name="adj" fmla="val 603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943975" y="3071812"/>
            <a:ext cx="2562225" cy="1676400"/>
          </a:xfrm>
          <a:prstGeom prst="roundRect">
            <a:avLst>
              <a:gd name="adj" fmla="val 681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3328987"/>
            <a:ext cx="266700" cy="2667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8550" y="3328987"/>
            <a:ext cx="304800" cy="2667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1275" y="3219450"/>
            <a:ext cx="238125" cy="2667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0" y="3328987"/>
            <a:ext cx="266700" cy="2667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85800" y="533400"/>
            <a:ext cx="115062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ECOSYSTEM &amp; TOOLING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781050"/>
            <a:ext cx="11506200" cy="4095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Space Grotesk"/>
              </a:rPr>
              <a:t>Data Analytics &amp; Statistical Tech Stack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5825" y="3748087"/>
            <a:ext cx="2837854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0F172A"/>
                </a:solidFill>
                <a:latin typeface="Plus Jakarta Sans"/>
              </a:rPr>
              <a:t>Pandas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5825" y="4052887"/>
            <a:ext cx="2257425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Tabular manipulation, aggregations, and binning.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8550" y="3748087"/>
            <a:ext cx="2837854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0F172A"/>
                </a:solidFill>
                <a:latin typeface="Plus Jakarta Sans"/>
              </a:rPr>
              <a:t>NumPy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8550" y="4052887"/>
            <a:ext cx="2257425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Vectorized computations and multi-axis transforms.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91275" y="3638550"/>
            <a:ext cx="2837854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0F172A"/>
                </a:solidFill>
                <a:latin typeface="Plus Jakarta Sans"/>
              </a:rPr>
              <a:t>SciPy Stats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91275" y="3943350"/>
            <a:ext cx="2257425" cy="657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Z-score scoring, skewness, and kurtosis tests.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3748087"/>
            <a:ext cx="2837854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0F172A"/>
                </a:solidFill>
                <a:latin typeface="Plus Jakarta Sans"/>
              </a:rPr>
              <a:t>Seaborn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4052887"/>
            <a:ext cx="2257425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High-density KDE curves and multivariate heatmaps.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2943225"/>
            <a:ext cx="3454449" cy="1895475"/>
          </a:xfrm>
          <a:prstGeom prst="roundRect">
            <a:avLst>
              <a:gd name="adj" fmla="val 703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68849" y="2943225"/>
            <a:ext cx="3454449" cy="1895475"/>
          </a:xfrm>
          <a:prstGeom prst="roundRect">
            <a:avLst>
              <a:gd name="adj" fmla="val 703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51899" y="2943225"/>
            <a:ext cx="3454449" cy="1895475"/>
          </a:xfrm>
          <a:prstGeom prst="roundRect">
            <a:avLst>
              <a:gd name="adj" fmla="val 703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025" y="3243262"/>
            <a:ext cx="171450" cy="1714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5074" y="3243262"/>
            <a:ext cx="171450" cy="1714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8124" y="3243262"/>
            <a:ext cx="171450" cy="1714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" y="533400"/>
            <a:ext cx="115062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PROBLEM SOLVING &amp; DEBUGGING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781050"/>
            <a:ext cx="11506200" cy="4095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Space Grotesk"/>
              </a:rPr>
              <a:t>Technical Obstacles Encountered &amp; Solutions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2025" y="3571875"/>
            <a:ext cx="2997249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64748B"/>
                </a:solidFill>
                <a:latin typeface="Plus Jakarta Sans"/>
              </a:rPr>
              <a:t>Issue:</a:t>
            </a:r>
            <a:r>
              <a:rPr sz="1350" b="0" i="0" u="none">
                <a:solidFill>
                  <a:srgbClr val="64748B"/>
                </a:solidFill>
                <a:latin typeface="Plus Jakarta Sans"/>
              </a:rPr>
              <a:t> 0% discount became NaN in strict intervals.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2025" y="4124325"/>
            <a:ext cx="2997249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59669"/>
                </a:solidFill>
                <a:latin typeface="Plus Jakarta Sans"/>
              </a:rPr>
              <a:t>Fix: Applied include_lowest=True in pd.cut.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45074" y="3571875"/>
            <a:ext cx="2997249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64748B"/>
                </a:solidFill>
                <a:latin typeface="Plus Jakarta Sans"/>
              </a:rPr>
              <a:t>Issue:</a:t>
            </a:r>
            <a:r>
              <a:rPr sz="1350" b="0" i="0" u="none">
                <a:solidFill>
                  <a:srgbClr val="64748B"/>
                </a:solidFill>
                <a:latin typeface="Plus Jakarta Sans"/>
              </a:rPr>
              <a:t> 1,335 high final_price rows flagged as outliers.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45074" y="4124325"/>
            <a:ext cx="2997249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59669"/>
                </a:solidFill>
                <a:latin typeface="Plus Jakarta Sans"/>
              </a:rPr>
              <a:t>Fix: Retained legitimate bulk wholesale orders.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8124" y="3571875"/>
            <a:ext cx="2997249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64748B"/>
                </a:solidFill>
                <a:latin typeface="Plus Jakarta Sans"/>
              </a:rPr>
              <a:t>Issue:</a:t>
            </a:r>
            <a:r>
              <a:rPr sz="1350" b="0" i="0" u="none">
                <a:solidFill>
                  <a:srgbClr val="64748B"/>
                </a:solidFill>
                <a:latin typeface="Plus Jakarta Sans"/>
              </a:rPr>
              <a:t> Heavy ink density obscured regression slopes.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8124" y="4124325"/>
            <a:ext cx="2997249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59669"/>
                </a:solidFill>
                <a:latin typeface="Plus Jakarta Sans"/>
              </a:rPr>
              <a:t>Fix: Stratified sub-sampling with alpha jitter.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09675" y="3219450"/>
            <a:ext cx="2412801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Binning Edge NaN Bug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92724" y="3219450"/>
            <a:ext cx="2875359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Outlier Dropping Dilemma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75774" y="3219450"/>
            <a:ext cx="2862857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100k Scatter Overplotting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476500"/>
            <a:ext cx="10972800" cy="2743200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09600" y="2476500"/>
          <a:ext cx="10972798" cy="2743200"/>
        </p:xfrm>
        <a:graphic>
          <a:graphicData uri="http://schemas.openxmlformats.org/drawingml/2006/table">
            <a:tbl>
              <a:tblPr/>
              <a:tblGrid>
                <a:gridCol w="26870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67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567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567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250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8843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0212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Variable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Mean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Median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Std Dev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Min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Max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Skewness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product_price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₹25,490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₹25,440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₹14,140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₹1,000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₹50,000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 i="0" u="none">
                          <a:solidFill>
                            <a:srgbClr val="059669"/>
                          </a:solidFill>
                          <a:latin typeface="Plus Jakarta Sans"/>
                        </a:rPr>
                        <a:t>0.003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quantity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3.00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3.00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1.41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1.00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5.00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 i="0" u="none">
                          <a:solidFill>
                            <a:srgbClr val="059669"/>
                          </a:solidFill>
                          <a:latin typeface="Plus Jakarta Sans"/>
                        </a:rPr>
                        <a:t>0.001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1E40AF"/>
                          </a:solidFill>
                          <a:latin typeface="Plus Jakarta Sans"/>
                        </a:rPr>
                        <a:t>final_price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 i="0" u="none">
                          <a:solidFill>
                            <a:srgbClr val="1E40AF"/>
                          </a:solidFill>
                          <a:latin typeface="Plus Jakarta Sans"/>
                        </a:rPr>
                        <a:t>₹64,917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 i="0" u="none">
                          <a:solidFill>
                            <a:srgbClr val="1E40AF"/>
                          </a:solidFill>
                          <a:latin typeface="Plus Jakarta Sans"/>
                        </a:rPr>
                        <a:t>₹57,750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 i="0" u="none">
                          <a:solidFill>
                            <a:srgbClr val="1E40AF"/>
                          </a:solidFill>
                          <a:latin typeface="Plus Jakarta Sans"/>
                        </a:rPr>
                        <a:t>₹46,244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 i="0" u="none">
                          <a:solidFill>
                            <a:srgbClr val="1E40AF"/>
                          </a:solidFill>
                          <a:latin typeface="Plus Jakarta Sans"/>
                        </a:rPr>
                        <a:t>₹700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 i="0" u="none">
                          <a:solidFill>
                            <a:srgbClr val="1E40AF"/>
                          </a:solidFill>
                          <a:latin typeface="Plus Jakarta Sans"/>
                        </a:rPr>
                        <a:t>₹249,950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 i="0" u="none">
                          <a:solidFill>
                            <a:srgbClr val="DC2626"/>
                          </a:solidFill>
                          <a:latin typeface="Plus Jakarta Sans"/>
                        </a:rPr>
                        <a:t>+0.932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discount_percentage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15.01%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15.00%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8.66%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0.00%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30.00%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 i="0" u="none">
                          <a:solidFill>
                            <a:srgbClr val="059669"/>
                          </a:solidFill>
                          <a:latin typeface="Plus Jakarta Sans"/>
                        </a:rPr>
                        <a:t>-0.002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delivery_days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4.01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4.00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2.00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1.00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7.00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 i="0" u="none">
                          <a:solidFill>
                            <a:srgbClr val="059669"/>
                          </a:solidFill>
                          <a:latin typeface="Plus Jakarta Sans"/>
                        </a:rPr>
                        <a:t>-0.004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STATISTICAL MOMENTS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8580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Space Grotesk"/>
              </a:rPr>
              <a:t>Univariate Numerical Parametric Summary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2500312"/>
            <a:ext cx="5195738" cy="2743200"/>
          </a:xfrm>
          <a:prstGeom prst="roundRect">
            <a:avLst>
              <a:gd name="adj" fmla="val 555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338738" y="2709862"/>
            <a:ext cx="5167461" cy="1066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338738" y="3967162"/>
            <a:ext cx="5167461" cy="1066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338738" y="2709862"/>
            <a:ext cx="38100" cy="1066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338738" y="3967162"/>
            <a:ext cx="38100" cy="10668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533400"/>
            <a:ext cx="115062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SHAPE &amp; ASYMMETRY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81050"/>
            <a:ext cx="11506200" cy="4095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Space Grotesk"/>
              </a:rPr>
              <a:t>Skewness &amp; Kurtosis Revenue Interpretations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238" y="2967037"/>
            <a:ext cx="5708860" cy="914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7200"/>
              </a:lnSpc>
            </a:pPr>
            <a:r>
              <a:rPr sz="7200" b="1" i="0" u="none">
                <a:solidFill>
                  <a:srgbClr val="2563EB"/>
                </a:solidFill>
                <a:latin typeface="Space Grotesk"/>
              </a:rPr>
              <a:t>+0.93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238" y="3995737"/>
            <a:ext cx="5708860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650" b="1" i="0" u="none">
                <a:solidFill>
                  <a:srgbClr val="0F172A"/>
                </a:solidFill>
                <a:latin typeface="Plus Jakarta Sans"/>
              </a:rPr>
              <a:t>Right-Skewed Revenue Curve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238" y="4338637"/>
            <a:ext cx="570886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64748B"/>
                </a:solidFill>
                <a:latin typeface="Plus Jakarta Sans"/>
              </a:rPr>
              <a:t>Positive final_price asymmetry: bulk orders pull the right tail.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05438" y="2881312"/>
            <a:ext cx="5586561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0F172A"/>
                </a:solidFill>
                <a:latin typeface="Plus Jakarta Sans"/>
              </a:rPr>
              <a:t>Heavy Tail Tendency (Kurtosis 0.17)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05438" y="3167062"/>
            <a:ext cx="4767411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Leptokurtic distribution confirming genuine high-ticket outlier transactions.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5438" y="4138612"/>
            <a:ext cx="5586561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0F172A"/>
                </a:solidFill>
                <a:latin typeface="Plus Jakarta Sans"/>
              </a:rPr>
              <a:t>Uniform Platykurtic Variables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05438" y="4424362"/>
            <a:ext cx="4767411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Discount percentage &amp; delivery days show uniform generation.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3019425"/>
            <a:ext cx="3454449" cy="1743075"/>
          </a:xfrm>
          <a:prstGeom prst="roundRect">
            <a:avLst>
              <a:gd name="adj" fmla="val 765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68849" y="2909887"/>
            <a:ext cx="3454449" cy="1962150"/>
          </a:xfrm>
          <a:prstGeom prst="roundRect">
            <a:avLst>
              <a:gd name="adj" fmla="val 679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51899" y="3019425"/>
            <a:ext cx="3454449" cy="1743075"/>
          </a:xfrm>
          <a:prstGeom prst="roundRect">
            <a:avLst>
              <a:gd name="adj" fmla="val 765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025" y="3295650"/>
            <a:ext cx="285750" cy="2286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5074" y="3186112"/>
            <a:ext cx="257175" cy="228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8124" y="3295650"/>
            <a:ext cx="257175" cy="228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" y="533400"/>
            <a:ext cx="115062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CATEGORICAL SHARES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781050"/>
            <a:ext cx="11506200" cy="4095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Space Grotesk"/>
              </a:rPr>
              <a:t>Categorical Frequency &amp; Demographic Distribution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2025" y="3657600"/>
            <a:ext cx="3808874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Customer Segments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2025" y="3990975"/>
            <a:ext cx="3627499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Regular buyers: 49.8%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2025" y="4267200"/>
            <a:ext cx="3627499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Premium &amp; New: ~25% each.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45074" y="3548062"/>
            <a:ext cx="3808874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Product Hierarchy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45074" y="3881437"/>
            <a:ext cx="3627499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Electronics lead order volume.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45074" y="4157662"/>
            <a:ext cx="2997249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Balanced shares across 5 categories.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8124" y="3657600"/>
            <a:ext cx="3808874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Payment Protocol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8124" y="3990975"/>
            <a:ext cx="3627499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Even split: UPI, Cards &amp; Cash.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8124" y="4267200"/>
            <a:ext cx="3627499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No single checkout channel bias.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2314575"/>
            <a:ext cx="5388917" cy="942975"/>
          </a:xfrm>
          <a:prstGeom prst="roundRect">
            <a:avLst>
              <a:gd name="adj" fmla="val 1212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85800" y="3429000"/>
            <a:ext cx="5388917" cy="942975"/>
          </a:xfrm>
          <a:prstGeom prst="roundRect">
            <a:avLst>
              <a:gd name="adj" fmla="val 1212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85800" y="4543425"/>
            <a:ext cx="5388917" cy="923925"/>
          </a:xfrm>
          <a:prstGeom prst="roundRect">
            <a:avLst>
              <a:gd name="adj" fmla="val 12371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4543425"/>
            <a:ext cx="38100" cy="92392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1917" y="2081212"/>
            <a:ext cx="4974282" cy="36195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1917" y="2081212"/>
            <a:ext cx="4974282" cy="36195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" y="533400"/>
            <a:ext cx="115062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ANOMALY AUDIT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781050"/>
            <a:ext cx="11506200" cy="4095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Space Grotesk"/>
              </a:rPr>
              <a:t>Outlier Isolation: IQR vs Z-Score Methodology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925" y="2533650"/>
            <a:ext cx="6447876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0F172A"/>
                </a:solidFill>
                <a:latin typeface="Plus Jakarta Sans"/>
              </a:rPr>
              <a:t>1,335 IQR Outliers in Final Price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925" y="2819400"/>
            <a:ext cx="6140834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Upper fence exceeded at ₹160,000 threshold.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925" y="3648075"/>
            <a:ext cx="6447876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0F172A"/>
                </a:solidFill>
                <a:latin typeface="Plus Jakarta Sans"/>
              </a:rPr>
              <a:t>Zero Z-Score Outliers in Pricing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925" y="3933825"/>
            <a:ext cx="6140834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No severe anomalies past 3-sigma boundaries.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2500" y="4752975"/>
            <a:ext cx="6422873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1E40AF"/>
                </a:solidFill>
                <a:latin typeface="Plus Jakarta Sans"/>
              </a:rPr>
              <a:t>Analytical Retention Verdict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2500" y="5038725"/>
            <a:ext cx="6117021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334155"/>
                </a:solidFill>
                <a:latin typeface="Plus Jakarta Sans"/>
              </a:rPr>
              <a:t>Outliers retained as genuine commercial bulk orders.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4776787"/>
            <a:ext cx="10820400" cy="619125"/>
          </a:xfrm>
          <a:prstGeom prst="roundRect">
            <a:avLst>
              <a:gd name="adj" fmla="val 1846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85800" y="2347912"/>
            <a:ext cx="3403550" cy="2085975"/>
          </a:xfrm>
          <a:prstGeom prst="roundRect">
            <a:avLst>
              <a:gd name="adj" fmla="val 7305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394150" y="2347912"/>
            <a:ext cx="3403550" cy="2085975"/>
          </a:xfrm>
          <a:prstGeom prst="roundRect">
            <a:avLst>
              <a:gd name="adj" fmla="val 7305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102500" y="2347912"/>
            <a:ext cx="3403550" cy="2085975"/>
          </a:xfrm>
          <a:prstGeom prst="roundRect">
            <a:avLst>
              <a:gd name="adj" fmla="val 7305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533400"/>
            <a:ext cx="115062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PEARSON METRICS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781050"/>
            <a:ext cx="11506200" cy="4095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Space Grotesk"/>
              </a:rPr>
              <a:t>Primary Revenue Drivers &amp; Correlation Hierarchy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2025" y="4976812"/>
            <a:ext cx="1071562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Independence Insight: Age (r = -0.002) and Delivery Days (r = -0.001) show zero correlation to spending.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1356" y="2652712"/>
            <a:ext cx="3492437" cy="676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4200" b="1" i="0" u="none">
                <a:solidFill>
                  <a:srgbClr val="1E40AF"/>
                </a:solidFill>
                <a:latin typeface="Space Grotesk"/>
              </a:rPr>
              <a:t>+0.73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4045" y="3405187"/>
            <a:ext cx="3667059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425" b="1" i="0" u="none">
                <a:solidFill>
                  <a:srgbClr val="0F172A"/>
                </a:solidFill>
                <a:latin typeface="Plus Jakarta Sans"/>
              </a:rPr>
              <a:t>Product Price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356" y="3690937"/>
            <a:ext cx="3492437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475569"/>
                </a:solidFill>
                <a:latin typeface="Plus Jakarta Sans"/>
              </a:rPr>
              <a:t>Strong linear predictor of order value.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9706" y="2652712"/>
            <a:ext cx="3492437" cy="676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4200" b="1" i="0" u="none">
                <a:solidFill>
                  <a:srgbClr val="059669"/>
                </a:solidFill>
                <a:latin typeface="Space Grotesk"/>
              </a:rPr>
              <a:t>+0.58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62395" y="3405187"/>
            <a:ext cx="3667059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425" b="1" i="0" u="none">
                <a:solidFill>
                  <a:srgbClr val="0F172A"/>
                </a:solidFill>
                <a:latin typeface="Plus Jakarta Sans"/>
              </a:rPr>
              <a:t>Order Quantity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9706" y="3690937"/>
            <a:ext cx="3492437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475569"/>
                </a:solidFill>
                <a:latin typeface="Plus Jakarta Sans"/>
              </a:rPr>
              <a:t>Basket volume expands transaction size.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58056" y="2652712"/>
            <a:ext cx="3492437" cy="676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4200" b="1" i="0" u="none">
                <a:solidFill>
                  <a:srgbClr val="DC2626"/>
                </a:solidFill>
                <a:latin typeface="Space Grotesk"/>
              </a:rPr>
              <a:t>-0.14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70746" y="3405187"/>
            <a:ext cx="3667059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425" b="1" i="0" u="none">
                <a:solidFill>
                  <a:srgbClr val="0F172A"/>
                </a:solidFill>
                <a:latin typeface="Plus Jakarta Sans"/>
              </a:rPr>
              <a:t>Discount Impact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58056" y="3690937"/>
            <a:ext cx="3492437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475569"/>
                </a:solidFill>
                <a:latin typeface="Plus Jakarta Sans"/>
              </a:rPr>
              <a:t>Mild negative drag on per-order GMV.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308675" y="2704207"/>
            <a:ext cx="5197524" cy="2373510"/>
          </a:xfrm>
          <a:prstGeom prst="roundRect">
            <a:avLst>
              <a:gd name="adj" fmla="val 642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85800" y="2495550"/>
            <a:ext cx="5165675" cy="828675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85800" y="3476625"/>
            <a:ext cx="5165675" cy="828675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85800" y="4457700"/>
            <a:ext cx="5165675" cy="828675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04875" y="3009900"/>
            <a:ext cx="4727525" cy="9525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04875" y="3990975"/>
            <a:ext cx="4727525" cy="9525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04875" y="4972050"/>
            <a:ext cx="4727525" cy="9525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904875" y="3009900"/>
            <a:ext cx="4491037" cy="9525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904875" y="3990975"/>
            <a:ext cx="3876526" cy="952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904875" y="4972050"/>
            <a:ext cx="3309193" cy="9525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" y="533400"/>
            <a:ext cx="115062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PRICING SENSITIVITY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781050"/>
            <a:ext cx="11506200" cy="4095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Space Grotesk"/>
              </a:rPr>
              <a:t>Discount Elasticity &amp; Yield Per Transaction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61100" y="3056632"/>
            <a:ext cx="5530899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Plus Jakarta Sans"/>
              </a:rPr>
              <a:t>Commercial Takeaway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61100" y="3475732"/>
            <a:ext cx="4587924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Lower discount tiers generate consistently higher net basket yield across all five merchandise lines.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61100" y="4176712"/>
            <a:ext cx="4587924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DC2626"/>
                </a:solidFill>
                <a:latin typeface="Plus Jakarta Sans"/>
              </a:rPr>
              <a:t>Deep discount surges (&gt;20%) erode per-transaction revenue without stimulating higher basket unit counts.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4875" y="2714625"/>
            <a:ext cx="2964656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Low Discount Band (0–10%)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46550" y="2714625"/>
            <a:ext cx="13716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59669"/>
                </a:solidFill>
                <a:latin typeface="Plus Jakarta Sans"/>
              </a:rPr>
              <a:t>₹72,400 Avg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4875" y="3695700"/>
            <a:ext cx="2964656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Mid Discount Band (11–20%)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37025" y="3695700"/>
            <a:ext cx="138112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2563EB"/>
                </a:solidFill>
                <a:latin typeface="Plus Jakarta Sans"/>
              </a:rPr>
              <a:t>₹64,800 Avg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4875" y="4676775"/>
            <a:ext cx="3107531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High Discount Band (21–30%)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65600" y="4676775"/>
            <a:ext cx="135255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DC2626"/>
                </a:solidFill>
                <a:latin typeface="Plus Jakarta Sans"/>
              </a:rPr>
              <a:t>₹57,200 Avg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117282" y="2276475"/>
            <a:ext cx="5388917" cy="981075"/>
          </a:xfrm>
          <a:prstGeom prst="roundRect">
            <a:avLst>
              <a:gd name="adj" fmla="val 1359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117282" y="3409950"/>
            <a:ext cx="5388917" cy="981075"/>
          </a:xfrm>
          <a:prstGeom prst="roundRect">
            <a:avLst>
              <a:gd name="adj" fmla="val 1359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117282" y="4543425"/>
            <a:ext cx="5388917" cy="962025"/>
          </a:xfrm>
          <a:prstGeom prst="roundRect">
            <a:avLst>
              <a:gd name="adj" fmla="val 13861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117282" y="4543425"/>
            <a:ext cx="38100" cy="96202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533400"/>
            <a:ext cx="115062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FULFILLMENT FRICTION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781050"/>
            <a:ext cx="11506200" cy="4095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Space Grotesk"/>
              </a:rPr>
              <a:t>Logistics Speed vs Customer Return Velocity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407" y="2514600"/>
            <a:ext cx="5836592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0F172A"/>
                </a:solidFill>
                <a:latin typeface="Plus Jakarta Sans"/>
              </a:rPr>
              <a:t>14.8% Flat Return Baseline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407" y="2800350"/>
            <a:ext cx="5836592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Uniform return distribution across all 5 departments.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407" y="3648075"/>
            <a:ext cx="5836592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0F172A"/>
                </a:solidFill>
                <a:latin typeface="Plus Jakarta Sans"/>
              </a:rPr>
              <a:t>Express Shipping Velocity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407" y="3933825"/>
            <a:ext cx="5836592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Reduces transit latency from 5.4 days to 2.2 days.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3982" y="4772025"/>
            <a:ext cx="5808017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1E40AF"/>
                </a:solidFill>
                <a:latin typeface="Plus Jakarta Sans"/>
              </a:rPr>
              <a:t>Operational Neutrality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83982" y="5057775"/>
            <a:ext cx="5808017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334155"/>
                </a:solidFill>
                <a:latin typeface="Plus Jakarta Sans"/>
              </a:rPr>
              <a:t>Transit duration demonstrates zero impact on returns.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FC1A0A1-F112-39BC-203B-45257F272D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356114"/>
            <a:ext cx="4973414" cy="304112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2895600"/>
            <a:ext cx="3454449" cy="1990725"/>
          </a:xfrm>
          <a:prstGeom prst="roundRect">
            <a:avLst>
              <a:gd name="adj" fmla="val 669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68849" y="2895600"/>
            <a:ext cx="3454449" cy="1990725"/>
          </a:xfrm>
          <a:prstGeom prst="roundRect">
            <a:avLst>
              <a:gd name="adj" fmla="val 669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51899" y="2895600"/>
            <a:ext cx="3454449" cy="1990725"/>
          </a:xfrm>
          <a:prstGeom prst="roundRect">
            <a:avLst>
              <a:gd name="adj" fmla="val 669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533400"/>
            <a:ext cx="115062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MULTIVARIATE INTERACTIONS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781050"/>
            <a:ext cx="11506200" cy="4095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Space Grotesk"/>
              </a:rPr>
              <a:t>Demographic &amp; Cross-Category Revenue Yield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2025" y="3209925"/>
            <a:ext cx="3627499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2563EB"/>
                </a:solidFill>
                <a:latin typeface="Plus Jakarta Sans"/>
              </a:rPr>
              <a:t>INTERACTION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2025" y="3486150"/>
            <a:ext cx="3808874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Electronics + Low Discount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2025" y="3838575"/>
            <a:ext cx="2997249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Delivers highest aggregate GMV per transaction.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2025" y="4352925"/>
            <a:ext cx="3627499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59669"/>
                </a:solidFill>
                <a:latin typeface="Plus Jakarta Sans"/>
              </a:rPr>
              <a:t>Average basket ₹73,200.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5074" y="3209925"/>
            <a:ext cx="3627499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59669"/>
                </a:solidFill>
                <a:latin typeface="Plus Jakarta Sans"/>
              </a:rPr>
              <a:t>INTERACTION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45074" y="3486150"/>
            <a:ext cx="3808874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Premium Segment (Age 31–45)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45074" y="3838575"/>
            <a:ext cx="2997249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High-frequency basket builds with multiple units.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45074" y="4352925"/>
            <a:ext cx="3627499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59669"/>
                </a:solidFill>
                <a:latin typeface="Plus Jakarta Sans"/>
              </a:rPr>
              <a:t>Peak spending demographic.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8124" y="3209925"/>
            <a:ext cx="3627499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7C3AED"/>
                </a:solidFill>
                <a:latin typeface="Plus Jakarta Sans"/>
              </a:rPr>
              <a:t>INTERACTION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8124" y="3486150"/>
            <a:ext cx="3808874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Shipping × Returns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8124" y="3838575"/>
            <a:ext cx="2997249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Transit speed does not alter return behavior.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8124" y="4352925"/>
            <a:ext cx="3627499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7C3AED"/>
                </a:solidFill>
                <a:latin typeface="Plus Jakarta Sans"/>
              </a:rPr>
              <a:t>Stable logistics baseline.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3005137"/>
            <a:ext cx="2562225" cy="1771650"/>
          </a:xfrm>
          <a:prstGeom prst="roundRect">
            <a:avLst>
              <a:gd name="adj" fmla="val 752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438525" y="3005137"/>
            <a:ext cx="2562225" cy="1771650"/>
          </a:xfrm>
          <a:prstGeom prst="roundRect">
            <a:avLst>
              <a:gd name="adj" fmla="val 752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191250" y="2895600"/>
            <a:ext cx="2562225" cy="1990725"/>
          </a:xfrm>
          <a:prstGeom prst="roundRect">
            <a:avLst>
              <a:gd name="adj" fmla="val 669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943975" y="2895600"/>
            <a:ext cx="2562225" cy="1990725"/>
          </a:xfrm>
          <a:prstGeom prst="roundRect">
            <a:avLst>
              <a:gd name="adj" fmla="val 669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04875" y="3281362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657600" y="3281362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410325" y="3171825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9163050" y="3171825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533400"/>
            <a:ext cx="115062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ACTIONABLE ROADMAP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781050"/>
            <a:ext cx="11506200" cy="4095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Space Grotesk"/>
              </a:rPr>
              <a:t>Strategic Recommendations for NextHikes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3281362"/>
            <a:ext cx="628650" cy="34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FFFFFF"/>
                </a:solidFill>
                <a:latin typeface="Plus Jakarta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4875" y="3757612"/>
            <a:ext cx="2787848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0F172A"/>
                </a:solidFill>
                <a:latin typeface="Plus Jakarta Sans"/>
              </a:rPr>
              <a:t>Cap Deep Discounts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4875" y="4062412"/>
            <a:ext cx="2219325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Cap discounts at 15% to safeguard margins.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14725" y="3281362"/>
            <a:ext cx="628650" cy="34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FFFFFF"/>
                </a:solidFill>
                <a:latin typeface="Plus Jakarta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3757612"/>
            <a:ext cx="2787848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0F172A"/>
                </a:solidFill>
                <a:latin typeface="Plus Jakarta Sans"/>
              </a:rPr>
              <a:t>Target Core Cohort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4062412"/>
            <a:ext cx="2219325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Focus loyalty campaigns on 31–45 age cohort.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7450" y="3171825"/>
            <a:ext cx="628650" cy="34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FFFFFF"/>
                </a:solidFill>
                <a:latin typeface="Plus Jakarta San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0325" y="3648075"/>
            <a:ext cx="2787848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0F172A"/>
                </a:solidFill>
                <a:latin typeface="Plus Jakarta Sans"/>
              </a:rPr>
              <a:t>Express Allocation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0325" y="3952875"/>
            <a:ext cx="2219325" cy="657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Prioritize high-ticket baskets for express routing.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20175" y="3171825"/>
            <a:ext cx="628650" cy="34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FFFFFF"/>
                </a:solidFill>
                <a:latin typeface="Plus Jakarta San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63050" y="3648075"/>
            <a:ext cx="2787848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0F172A"/>
                </a:solidFill>
                <a:latin typeface="Plus Jakarta Sans"/>
              </a:rPr>
              <a:t>ML Feature Base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63050" y="3952875"/>
            <a:ext cx="2219325" cy="657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Feed verified feature vectors to predictive models.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667125" y="4695825"/>
            <a:ext cx="4857750" cy="581025"/>
          </a:xfrm>
          <a:prstGeom prst="roundRect">
            <a:avLst>
              <a:gd name="adj" fmla="val 19672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9300" y="1581150"/>
            <a:ext cx="533400" cy="5334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6937" y="1714500"/>
            <a:ext cx="238125" cy="2667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940968" y="2343150"/>
            <a:ext cx="4310062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38BDF8"/>
                </a:solidFill>
                <a:latin typeface="Space Grotesk"/>
              </a:rPr>
              <a:t>EXPLORATORY DATA ANALYSIS COMPLETE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5375" y="2695575"/>
            <a:ext cx="10001250" cy="1162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600" b="1" i="0" u="none">
                <a:solidFill>
                  <a:srgbClr val="FFFFFF"/>
                </a:solidFill>
                <a:latin typeface="Space Grotesk"/>
              </a:rPr>
              <a:t>Data Audited &amp; Prepared for Predictive Modeling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5218" y="4048125"/>
            <a:ext cx="4881562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1500" b="0" i="0" u="none">
                <a:solidFill>
                  <a:srgbClr val="94A3B8"/>
                </a:solidFill>
                <a:latin typeface="Plus Jakarta Sans"/>
              </a:rPr>
              <a:t>NextHikes IT Solutions • Project 3 Evaluation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20517" y="4876800"/>
            <a:ext cx="1150956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 dirty="0">
                <a:solidFill>
                  <a:srgbClr val="F8FAFC"/>
                </a:solidFill>
                <a:latin typeface="Plus Jakarta Sans"/>
              </a:rPr>
              <a:t>Author: Azeem  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826</Words>
  <Application>Microsoft Office PowerPoint</Application>
  <PresentationFormat>Widescreen</PresentationFormat>
  <Paragraphs>185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Space Grotesk</vt:lpstr>
      <vt:lpstr>Plus Jakarta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Jeevika Chauhan</cp:lastModifiedBy>
  <cp:revision>3</cp:revision>
  <dcterms:created xsi:type="dcterms:W3CDTF">2013-01-27T09:14:16Z</dcterms:created>
  <dcterms:modified xsi:type="dcterms:W3CDTF">2026-09-25T14:39:27Z</dcterms:modified>
  <cp:category/>
</cp:coreProperties>
</file>